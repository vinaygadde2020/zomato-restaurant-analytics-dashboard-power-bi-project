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Zomato Restaurant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2D2D2"/>
                </a:solidFill>
              </a:defRPr>
            </a:pPr>
            <a:r>
              <a:t>InternNova Week 6 | Final Project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10698480" cy="4480560"/>
          </a:xfrm>
          <a:prstGeom prst="rect">
            <a:avLst/>
          </a:prstGeom>
          <a:noFill/>
        </p:spPr>
        <p:txBody>
          <a:bodyPr wrap="square" tIns="73152">
            <a:spAutoFit/>
          </a:bodyPr>
          <a:lstStyle/>
          <a:p>
            <a:pPr>
              <a:spcAft>
                <a:spcPts val="1500"/>
              </a:spcAft>
              <a:defRPr sz="2000">
                <a:solidFill>
                  <a:srgbClr val="F5F5F5"/>
                </a:solidFill>
              </a:defRPr>
            </a:pPr>
            <a:r>
              <a:t>End-to-end restaurant data analysis using Power BI, Excel, Power Query and DAX</a:t>
            </a:r>
          </a:p>
          <a:p>
            <a:pPr>
              <a:spcAft>
                <a:spcPts val="1500"/>
              </a:spcAft>
              <a:defRPr sz="2000">
                <a:solidFill>
                  <a:srgbClr val="F5F5F5"/>
                </a:solidFill>
              </a:defRPr>
            </a:pPr>
            <a:r>
              <a:t>Repository: vinaygadde2020/Zomato-Restaurant-Analytics-Dashboard-Power-BI-Project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AAAAA"/>
                </a:solidFill>
              </a:defRPr>
            </a:pPr>
            <a:r>
              <a:t>InternNova Week 6 | Zomato Restaurant Analytics                                    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Problem &amp;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2D2D2"/>
                </a:solidFill>
              </a:defRPr>
            </a:pPr>
            <a:r>
              <a:t>Why this project?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10698480" cy="4480560"/>
          </a:xfrm>
          <a:prstGeom prst="rect">
            <a:avLst/>
          </a:prstGeom>
          <a:noFill/>
        </p:spPr>
        <p:txBody>
          <a:bodyPr wrap="square" tIns="73152">
            <a:spAutoFit/>
          </a:bodyPr>
          <a:lstStyle/>
          <a:p>
            <a:pPr>
              <a:spcAft>
                <a:spcPts val="1500"/>
              </a:spcAft>
              <a:defRPr sz="2000">
                <a:solidFill>
                  <a:srgbClr val="F5F5F5"/>
                </a:solidFill>
              </a:defRPr>
            </a:pPr>
            <a:r>
              <a:t>Restaurant listings contain multiple attributes that are difficult to compare manually.</a:t>
            </a:r>
          </a:p>
          <a:p>
            <a:pPr>
              <a:spcAft>
                <a:spcPts val="1500"/>
              </a:spcAft>
              <a:defRPr sz="2000">
                <a:solidFill>
                  <a:srgbClr val="F5F5F5"/>
                </a:solidFill>
              </a:defRPr>
            </a:pPr>
            <a:r>
              <a:t>Explore ratings, cuisines, locations, customer votes, cost and table-booking availability.</a:t>
            </a:r>
          </a:p>
          <a:p>
            <a:pPr>
              <a:spcAft>
                <a:spcPts val="1500"/>
              </a:spcAft>
              <a:defRPr sz="2000">
                <a:solidFill>
                  <a:srgbClr val="F5F5F5"/>
                </a:solidFill>
              </a:defRPr>
            </a:pPr>
            <a:r>
              <a:t>Present key patterns through KPIs, charts and interactive filters.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AAAAA"/>
                </a:solidFill>
              </a:defRPr>
            </a:pPr>
            <a:r>
              <a:t>InternNova Week 6 | Zomato Restaurant Analytics                                  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Dataset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2D2D2"/>
                </a:solidFill>
              </a:defRPr>
            </a:pPr>
            <a:r>
              <a:t>Cleaned workbook: zomato_cleaned.xlsx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10698480" cy="4480560"/>
          </a:xfrm>
          <a:prstGeom prst="rect">
            <a:avLst/>
          </a:prstGeom>
          <a:noFill/>
        </p:spPr>
        <p:txBody>
          <a:bodyPr wrap="square" tIns="73152">
            <a:spAutoFit/>
          </a:bodyPr>
          <a:lstStyle/>
          <a:p>
            <a:pPr>
              <a:spcAft>
                <a:spcPts val="1500"/>
              </a:spcAft>
              <a:defRPr sz="1800">
                <a:solidFill>
                  <a:srgbClr val="F5F5F5"/>
                </a:solidFill>
              </a:defRPr>
            </a:pPr>
            <a:r>
              <a:t>6,801 cleaned rows and 11 columns</a:t>
            </a:r>
          </a:p>
          <a:p>
            <a:pPr>
              <a:spcAft>
                <a:spcPts val="1500"/>
              </a:spcAft>
              <a:defRPr sz="1800">
                <a:solidFill>
                  <a:srgbClr val="F5F5F5"/>
                </a:solidFill>
              </a:defRPr>
            </a:pPr>
            <a:r>
              <a:t>1,658 distinct restaurant names across 80 locations</a:t>
            </a:r>
          </a:p>
          <a:p>
            <a:pPr>
              <a:spcAft>
                <a:spcPts val="1500"/>
              </a:spcAft>
              <a:defRPr sz="1800">
                <a:solidFill>
                  <a:srgbClr val="F5F5F5"/>
                </a:solidFill>
              </a:defRPr>
            </a:pPr>
            <a:r>
              <a:t>3,661,283 total votes; average rating 3.90</a:t>
            </a:r>
          </a:p>
          <a:p>
            <a:pPr>
              <a:spcAft>
                <a:spcPts val="1500"/>
              </a:spcAft>
              <a:defRPr sz="1800">
                <a:solidFill>
                  <a:srgbClr val="F5F5F5"/>
                </a:solidFill>
              </a:defRPr>
            </a:pPr>
            <a:r>
              <a:t>Average cost for two: 629.09 (currency not specified in source data)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AAAAA"/>
                </a:solidFill>
              </a:defRPr>
            </a:pPr>
            <a:r>
              <a:t>InternNova Week 6 | Zomato Restaurant Analytics                                  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Cleaning &amp; Data Quality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2D2D2"/>
                </a:solidFill>
              </a:defRPr>
            </a:pPr>
            <a:r>
              <a:t>Preparation steps documented in the Week 5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10698480" cy="4480560"/>
          </a:xfrm>
          <a:prstGeom prst="rect">
            <a:avLst/>
          </a:prstGeom>
          <a:noFill/>
        </p:spPr>
        <p:txBody>
          <a:bodyPr wrap="square" tIns="73152">
            <a:spAutoFit/>
          </a:bodyPr>
          <a:lstStyle/>
          <a:p>
            <a:pPr>
              <a:spcAft>
                <a:spcPts val="1500"/>
              </a:spcAft>
              <a:defRPr sz="1800">
                <a:solidFill>
                  <a:srgbClr val="F5F5F5"/>
                </a:solidFill>
              </a:defRPr>
            </a:pPr>
            <a:r>
              <a:t>Promoted headers and set data types; removed errors and blank rows.</a:t>
            </a:r>
          </a:p>
          <a:p>
            <a:pPr>
              <a:spcAft>
                <a:spcPts val="1500"/>
              </a:spcAft>
              <a:defRPr sz="1800">
                <a:solidFill>
                  <a:srgbClr val="F5F5F5"/>
                </a:solidFill>
              </a:defRPr>
            </a:pPr>
            <a:r>
              <a:t>Removed duplicate URLs, unnecessary columns and incomplete records.</a:t>
            </a:r>
          </a:p>
          <a:p>
            <a:pPr>
              <a:spcAft>
                <a:spcPts val="1500"/>
              </a:spcAft>
              <a:defRPr sz="1800">
                <a:solidFill>
                  <a:srgbClr val="F5F5F5"/>
                </a:solidFill>
              </a:defRPr>
            </a:pPr>
            <a:r>
              <a:t>2,258 exact duplicate rows were identified across eight retained columns; their meaning needs review.</a:t>
            </a:r>
          </a:p>
          <a:p>
            <a:pPr>
              <a:spcAft>
                <a:spcPts val="1500"/>
              </a:spcAft>
              <a:defRPr sz="1800">
                <a:solidFill>
                  <a:srgbClr val="F5F5F5"/>
                </a:solidFill>
              </a:defRPr>
            </a:pPr>
            <a:r>
              <a:t>All cleaned rows have online_order = Yes, so online vs offline comparisons are not supported.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AAAAA"/>
                </a:solidFill>
              </a:defRPr>
            </a:pPr>
            <a:r>
              <a:t>InternNova Week 6 | Zomato Restaurant Analytics                                  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Dashboard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2D2D2"/>
                </a:solidFill>
              </a:defRPr>
            </a:pPr>
            <a:r>
              <a:t>Power BI dashboard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10698480" cy="4480560"/>
          </a:xfrm>
          <a:prstGeom prst="rect">
            <a:avLst/>
          </a:prstGeom>
          <a:noFill/>
        </p:spPr>
        <p:txBody>
          <a:bodyPr wrap="square" tIns="73152">
            <a:spAutoFit/>
          </a:bodyPr>
          <a:lstStyle/>
          <a:p>
            <a:pPr>
              <a:spcAft>
                <a:spcPts val="1500"/>
              </a:spcAft>
              <a:defRPr sz="2000">
                <a:solidFill>
                  <a:srgbClr val="F5F5F5"/>
                </a:solidFill>
              </a:defRPr>
            </a:pPr>
            <a:r>
              <a:t>KPI cards: average rating, distinct restaurant names, locations and average cost for two.</a:t>
            </a:r>
          </a:p>
          <a:p>
            <a:pPr>
              <a:spcAft>
                <a:spcPts val="1500"/>
              </a:spcAft>
              <a:defRPr sz="2000">
                <a:solidFill>
                  <a:srgbClr val="F5F5F5"/>
                </a:solidFill>
              </a:defRPr>
            </a:pPr>
            <a:r>
              <a:t>Visuals: top restaurants by votes, rating distribution, cuisine treemap, location-rating matrix and table booking.</a:t>
            </a:r>
          </a:p>
          <a:p>
            <a:pPr>
              <a:spcAft>
                <a:spcPts val="1500"/>
              </a:spcAft>
              <a:defRPr sz="2000">
                <a:solidFill>
                  <a:srgbClr val="F5F5F5"/>
                </a:solidFill>
              </a:defRPr>
            </a:pPr>
            <a:r>
              <a:t>Slicers: location, rating category and cuisine; interactions need testing in Power BI Desktop.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AAAAA"/>
                </a:solidFill>
              </a:defRPr>
            </a:pPr>
            <a:r>
              <a:t>InternNova Week 6 | Zomato Restaurant Analytics                                   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Key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2D2D2"/>
                </a:solidFill>
              </a:defRPr>
            </a:pPr>
            <a:r>
              <a:t>Patterns recorded in the project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10698480" cy="4480560"/>
          </a:xfrm>
          <a:prstGeom prst="rect">
            <a:avLst/>
          </a:prstGeom>
          <a:noFill/>
        </p:spPr>
        <p:txBody>
          <a:bodyPr wrap="square" tIns="73152">
            <a:spAutoFit/>
          </a:bodyPr>
          <a:lstStyle/>
          <a:p>
            <a:pPr>
              <a:spcAft>
                <a:spcPts val="1500"/>
              </a:spcAft>
              <a:defRPr sz="2000">
                <a:solidFill>
                  <a:srgbClr val="F5F5F5"/>
                </a:solidFill>
              </a:defRPr>
            </a:pPr>
            <a:r>
              <a:t>Very Good is the largest rating category at 46.36%; Good accounts for 45.48%.</a:t>
            </a:r>
          </a:p>
          <a:p>
            <a:pPr>
              <a:spcAft>
                <a:spcPts val="1500"/>
              </a:spcAft>
              <a:defRPr sz="2000">
                <a:solidFill>
                  <a:srgbClr val="F5F5F5"/>
                </a:solidFill>
              </a:defRPr>
            </a:pPr>
            <a:r>
              <a:t>North Indian appears in 40.19% of rows and Chinese in 31.36% when cuisine combinations are split.</a:t>
            </a:r>
          </a:p>
          <a:p>
            <a:pPr>
              <a:spcAft>
                <a:spcPts val="1500"/>
              </a:spcAft>
              <a:defRPr sz="2000">
                <a:solidFill>
                  <a:srgbClr val="F5F5F5"/>
                </a:solidFill>
              </a:defRPr>
            </a:pPr>
            <a:r>
              <a:t>Table booking is available in 1,327 of 6,801 rows (about 19.51%).</a:t>
            </a:r>
          </a:p>
          <a:p>
            <a:pPr>
              <a:spcAft>
                <a:spcPts val="1500"/>
              </a:spcAft>
              <a:defRPr sz="2000">
                <a:solidFill>
                  <a:srgbClr val="F5F5F5"/>
                </a:solidFill>
              </a:defRPr>
            </a:pPr>
            <a:r>
              <a:t>The top 10 restaurant names account for about 17.0% of total votes.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AAAAA"/>
                </a:solidFill>
              </a:defRPr>
            </a:pPr>
            <a:r>
              <a:t>InternNova Week 6 | Zomato Restaurant Analytics                                   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2D2D2"/>
                </a:solidFill>
              </a:defRPr>
            </a:pPr>
            <a:r>
              <a:t>Practical next steps from the observed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10698480" cy="4480560"/>
          </a:xfrm>
          <a:prstGeom prst="rect">
            <a:avLst/>
          </a:prstGeom>
          <a:noFill/>
        </p:spPr>
        <p:txBody>
          <a:bodyPr wrap="square" tIns="73152">
            <a:spAutoFit/>
          </a:bodyPr>
          <a:lstStyle/>
          <a:p>
            <a:pPr>
              <a:spcAft>
                <a:spcPts val="1500"/>
              </a:spcAft>
              <a:defRPr sz="2000">
                <a:solidFill>
                  <a:srgbClr val="F5F5F5"/>
                </a:solidFill>
              </a:defRPr>
            </a:pPr>
            <a:r>
              <a:t>Pilot table-booking adoption among suitable restaurants and measure outcomes.</a:t>
            </a:r>
          </a:p>
          <a:p>
            <a:pPr>
              <a:spcAft>
                <a:spcPts val="1500"/>
              </a:spcAft>
              <a:defRPr sz="2000">
                <a:solidFill>
                  <a:srgbClr val="F5F5F5"/>
                </a:solidFill>
              </a:defRPr>
            </a:pPr>
            <a:r>
              <a:t>Investigate highly rated cuisine combinations and differentiation opportunities.</a:t>
            </a:r>
          </a:p>
          <a:p>
            <a:pPr>
              <a:spcAft>
                <a:spcPts val="1500"/>
              </a:spcAft>
              <a:defRPr sz="2000">
                <a:solidFill>
                  <a:srgbClr val="F5F5F5"/>
                </a:solidFill>
              </a:defRPr>
            </a:pPr>
            <a:r>
              <a:t>Review duplicate records and distinguish row counts from distinct restaurant counts.</a:t>
            </a:r>
          </a:p>
          <a:p>
            <a:pPr>
              <a:spcAft>
                <a:spcPts val="1500"/>
              </a:spcAft>
              <a:defRPr sz="2000">
                <a:solidFill>
                  <a:srgbClr val="F5F5F5"/>
                </a:solidFill>
              </a:defRPr>
            </a:pPr>
            <a:r>
              <a:t>Verify Power BI relationships, measures and slicer interactions before publishing.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AAAAA"/>
                </a:solidFill>
              </a:defRPr>
            </a:pPr>
            <a:r>
              <a:t>InternNova Week 6 | Zomato Restaurant Analytics                                   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GitHub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2D2D2"/>
                </a:solidFill>
              </a:defRPr>
            </a:pPr>
            <a:r>
              <a:t>Project repository and verification items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10698480" cy="4480560"/>
          </a:xfrm>
          <a:prstGeom prst="rect">
            <a:avLst/>
          </a:prstGeom>
          <a:noFill/>
        </p:spPr>
        <p:txBody>
          <a:bodyPr wrap="square" tIns="73152">
            <a:spAutoFit/>
          </a:bodyPr>
          <a:lstStyle/>
          <a:p>
            <a:pPr>
              <a:spcAft>
                <a:spcPts val="1500"/>
              </a:spcAft>
              <a:defRPr sz="1800">
                <a:solidFill>
                  <a:srgbClr val="F5F5F5"/>
                </a:solidFill>
              </a:defRPr>
            </a:pPr>
            <a:r>
              <a:t>Repository includes README.md, zomato_cleaned.xlsx, zomato.pbix and Dashboard Screenshot.png.</a:t>
            </a:r>
          </a:p>
          <a:p>
            <a:pPr>
              <a:spcAft>
                <a:spcPts val="1500"/>
              </a:spcAft>
              <a:defRPr sz="1800">
                <a:solidFill>
                  <a:srgbClr val="F5F5F5"/>
                </a:solidFill>
              </a:defRPr>
            </a:pPr>
            <a:r>
              <a:t>The repository history screenshot shows three commits; workflow practice for clone/add/commit/push/pull must be verified.</a:t>
            </a:r>
          </a:p>
          <a:p>
            <a:pPr>
              <a:spcAft>
                <a:spcPts val="1500"/>
              </a:spcAft>
              <a:defRPr sz="1800">
                <a:solidFill>
                  <a:srgbClr val="F5F5F5"/>
                </a:solidFill>
              </a:defRPr>
            </a:pPr>
            <a:r>
              <a:t>Verify the rating relationship and highest-rated restaurant measure; test slicers.</a:t>
            </a:r>
          </a:p>
          <a:p>
            <a:pPr>
              <a:spcAft>
                <a:spcPts val="1500"/>
              </a:spcAft>
              <a:defRPr sz="1800">
                <a:solidFill>
                  <a:srgbClr val="F5F5F5"/>
                </a:solidFill>
              </a:defRPr>
            </a:pPr>
            <a:r>
              <a:t>Add the final report and this presentation to the repository.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AAAAA"/>
                </a:solidFill>
              </a:defRPr>
            </a:pPr>
            <a:r>
              <a:t>InternNova Week 6 | Zomato Restaurant Analytics                                     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